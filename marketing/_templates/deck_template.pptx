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-1097280"/>
            <a:ext cx="5486400" cy="3840480"/>
          </a:xfrm>
          <a:prstGeom prst="roundRect">
            <a:avLst>
              <a:gd name="adj" fmla="val 6000"/>
            </a:avLst>
          </a:prstGeom>
          <a:solidFill>
            <a:srgbClr val="1E2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olaan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468880"/>
            <a:ext cx="9601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Plus Jakarta Sans"/>
              </a:rPr>
              <a:t>Every great stay starts</a:t>
            </a:r>
          </a:p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Plus Jakarta Sans"/>
              </a:rPr>
              <a:t>with a holaa.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794760"/>
            <a:ext cx="301752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3B3B3"/>
                </a:solidFill>
                <a:latin typeface="Inter"/>
              </a:rPr>
              <a:t>[Presentation title] — [Prepared for: Property / Prospect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3B3B3"/>
                </a:solidFill>
                <a:latin typeface="Inter"/>
              </a:rPr>
              <a:t>[Presenter name]  ·  [Date]  ·  concierge@holaa.com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0A0A"/>
                </a:solidFill>
                <a:latin typeface="Plus Jakarta Sans"/>
              </a:rPr>
              <a:t>What we'll cover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234440"/>
            <a:ext cx="237744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73736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01  The problem — what today's hotel websites get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02  Meet your AI concierge — a live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71216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03  Wherever your guest already is — WhatsApp &amp; in-room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38144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04  What holaa actually does — 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05072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05  Plans &amp;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06  Integrations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3892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07  Why properties choose holaa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05856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A0A"/>
                </a:solidFill>
                <a:latin typeface="Inter"/>
              </a:rPr>
              <a:t>08 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Agenda  ·  Template — replace bracketed [content] before sending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A0A0A"/>
                </a:solidFill>
                <a:latin typeface="Plus Jakarta Sans"/>
              </a:rPr>
              <a:t>Hotel websites are still stuck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A0A0A"/>
                </a:solidFill>
                <a:latin typeface="Plus Jakarta Sans"/>
              </a:rPr>
              <a:t>answering questions nobody asks.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783080"/>
            <a:ext cx="512064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05740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Inter"/>
              </a:rPr>
              <a:t>Guests visiting your site aren't looking for a static PDF of room specs. They want to know what sunrise looks like from the balcony.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5943600" cy="10515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Plus Jakarta Sans"/>
              </a:rPr>
              <a:t>Static info &amp; cold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Inter"/>
              </a:rPr>
              <a:t>Guests bounce to TripAdvisor or Instagram when your site can't show them what a room actually feels 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5943600" cy="10515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89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Plus Jakarta Sans"/>
              </a:rPr>
              <a:t>Robotic chatbot popups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Inter"/>
              </a:rPr>
              <a:t>Generic bots miss context, break your brand voice, and turn a warm welcome into an IVR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057400"/>
            <a:ext cx="4160520" cy="388620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331720"/>
            <a:ext cx="3703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FF72"/>
                </a:solidFill>
                <a:latin typeface="Plus Jakarta Sans"/>
              </a:rPr>
              <a:t>“Guests don't book rooms.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FF72"/>
                </a:solidFill>
                <a:latin typeface="Plus Jakarta Sans"/>
              </a:rPr>
              <a:t>They book experiences.”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39496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3B3B3"/>
                </a:solidFill>
                <a:latin typeface="Inter"/>
              </a:rPr>
              <a:t>— the holaa design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The Problem  ·  Template — replace bracketed [content] before sending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Plus Jakarta Sans"/>
              </a:rPr>
              <a:t>Meet your AI concierge.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292608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Inter"/>
              </a:rPr>
              <a:t>See how holaa turns guest curiosity into rich visual journeys and direct bookings.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286000"/>
            <a:ext cx="6035040" cy="7772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Inter"/>
              </a:rPr>
              <a:t>GUEST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334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Inter"/>
              </a:rPr>
              <a:t>“What does sunrise look like from the Ocean Suite?”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Inter"/>
              </a:rPr>
              <a:t>CONCIERGE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6035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4A4A"/>
                </a:solidFill>
                <a:latin typeface="Inter"/>
              </a:rPr>
              <a:t>At 6:15 AM, soft golden rays illuminate the private infinity plunge pool. Frame-by-frame, the ocean shifts from deep indigo to warm amber, with fresh sea breezes rolling over the cliffside.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892040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50292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A4A"/>
                </a:solidFill>
                <a:latin typeface="Inter"/>
              </a:rPr>
              <a:t>☀  27°C · Clear Sky · Gentle East Coast Breeze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286000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514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1FF72"/>
                </a:solidFill>
                <a:latin typeface="Inter"/>
              </a:rPr>
              <a:t>VISUAL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834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lus Jakarta Sans"/>
              </a:rPr>
              <a:t>Ocean Suite · Cliff 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2120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3B3B3"/>
                </a:solidFill>
                <a:latin typeface="Inter"/>
              </a:rPr>
              <a:t>[Insert property photo / drone footage / room visual here]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Product Demo  ·  Template — replace bracketed [content] before sending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Plus Jakarta Sans"/>
              </a:rPr>
              <a:t>One concierge, wherever your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Plus Jakarta Sans"/>
              </a:rPr>
              <a:t>guest already is.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737360"/>
            <a:ext cx="329184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9202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3B3B3"/>
                </a:solidFill>
                <a:latin typeface="Inter"/>
              </a:rPr>
              <a:t>No app download. No new habit to teach. Same concierge, same knowledge, wherever the guest already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926080"/>
            <a:ext cx="502920" cy="502920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Website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B3B3"/>
                </a:solidFill>
                <a:latin typeface="Inter"/>
              </a:rPr>
              <a:t>Embedded on your own site — the everyday front door for browsing guests.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926080"/>
            <a:ext cx="502920" cy="502920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611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WhatsApp concierge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8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B3B3"/>
                </a:solidFill>
                <a:latin typeface="Inter"/>
              </a:rPr>
              <a:t>A real two-way conversation on your hotel's own WhatsApp number — the same agent, same knowledge, plus a staff relay that routes service requests to the right team by category,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65176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83880" y="2926080"/>
            <a:ext cx="502920" cy="502920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611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In-room QR — scan to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B3B3"/>
                </a:solidFill>
                <a:latin typeface="Inter"/>
              </a:rPr>
              <a:t>Every room gets its own QR card. Guests scan with their camera and are instantly chatting about dining, spa, and requests — no app, no login, no wait.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6309360"/>
            <a:ext cx="3383280" cy="329184"/>
          </a:xfrm>
          <a:prstGeom prst="roundRect">
            <a:avLst>
              <a:gd name="adj" fmla="val 50000"/>
            </a:avLst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 b="1">
                <a:solidFill>
                  <a:srgbClr val="0A0A0A"/>
                </a:solidFill>
                <a:latin typeface="Inter"/>
              </a:rPr>
              <a:t>NO APP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3B3"/>
                </a:solidFill>
                <a:latin typeface="Inter"/>
              </a:rPr>
              <a:t>holaa  ·  Omnichannel Concierge  ·  Template — replace bracketed [content] before sending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3B3B3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Plus Jakarta Sans"/>
              </a:rPr>
              <a:t>What holaa actually does.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43000"/>
            <a:ext cx="329184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60020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78308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1343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Storytelling, not spec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Answers the emotional question — what a room feels like, not just its square footage.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60020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85032" y="178308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31343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Grounded knowledge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83464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Only speaks from your hotel's own verified content. Never hallucinates rates or amenities.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0020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4224" y="178308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1343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Generative UI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83464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Room carousels, dining menus, itineraries — rich interactive cards, not chat bubbles.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160020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43416" y="178308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231343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Direct-booking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83464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Routes every guest to your preferred booking channel, with full click-through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3192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11480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4515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Experience upsell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Partner experiences with real commission tracking, surfaced in itinerary planning — with revenue-attribution analytics.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393192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85032" y="411480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464515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Checkout QR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16636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Structured guest answers become an AI-drafted, ready-to-post review — more specific, not just more positive.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93192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411480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64515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Multi-agent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16636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Concierge, Booking, Dining &amp; Spa, and Itinerary agents hand off conversations seamlessly.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3931920"/>
            <a:ext cx="2496312" cy="21488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43416" y="4114800"/>
            <a:ext cx="384048" cy="38404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43416" y="4645152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A0A0A"/>
                </a:solidFill>
                <a:latin typeface="Plus Jakarta Sans"/>
              </a:rPr>
              <a:t>Destination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5166360"/>
            <a:ext cx="21305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A4A"/>
                </a:solidFill>
                <a:latin typeface="Inter"/>
              </a:rPr>
              <a:t>An expert on the surrounding destination, not just the property — attractions, seasons, local tips.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Core Features  ·  see hola_product_offerings.md for the full ranked catalog  ·  Template — replace bracketed [content] before sending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0A0A"/>
                </a:solidFill>
                <a:latin typeface="Plus Jakarta Sans"/>
              </a:rPr>
              <a:t>Built to pay for itself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0A0A"/>
                </a:solidFill>
                <a:latin typeface="Plus Jakarta Sans"/>
              </a:rPr>
              <a:t>in direct bookings.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6E6E"/>
                </a:solidFill>
                <a:latin typeface="Inter"/>
              </a:rPr>
              <a:t>Skip the 15–25% OTA commission. [PLACEHOLDER PRICING — confirm before quoting externally]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2514600" cy="416052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A0A"/>
                </a:solidFill>
                <a:latin typeface="Plus Jakarta Sans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Inter"/>
              </a:rPr>
              <a:t>1 property, finding its feet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Plus Jakarta Sans"/>
              </a:rPr>
              <a:t>$190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E6E6E"/>
                </a:solidFill>
                <a:latin typeface="Inter"/>
              </a:rPr>
              <a:t>per month, billed annually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AI concierge &amp; booking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616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≤20 knowledge base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4573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Standard model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9784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Web widget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65960"/>
            <a:ext cx="2514600" cy="416052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945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A0A"/>
                </a:solidFill>
                <a:latin typeface="Plus Jakarta Sans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03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Inter"/>
              </a:rPr>
              <a:t>Boutique hideaways &amp; lodges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6324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Plus Jakarta Sans"/>
              </a:rPr>
              <a:t>$490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566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E6E6E"/>
                </a:solidFill>
                <a:latin typeface="Inter"/>
              </a:rPr>
              <a:t>per month, billed annually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977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Itinerary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3616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Full guest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74573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In-room QR &amp; widget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5129784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≤75 knowledge base 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965960"/>
            <a:ext cx="2514600" cy="416052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8013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 b="1">
                <a:solidFill>
                  <a:srgbClr val="0A0A0A"/>
                </a:solidFill>
                <a:latin typeface="Inter"/>
              </a:rPr>
              <a:t>MOST POPULAR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lus Jakarta Sans"/>
              </a:rPr>
              <a:t>Engage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3B3"/>
                </a:solidFill>
                <a:latin typeface="Inter"/>
              </a:rPr>
              <a:t>Luxury resorts &amp; ocean villas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1FF72"/>
                </a:solidFill>
                <a:latin typeface="Plus Jakarta Sans"/>
              </a:rPr>
              <a:t>$990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B3B3B3"/>
                </a:solidFill>
                <a:latin typeface="Inter"/>
              </a:rPr>
              <a:t>per month, billed annually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Inter"/>
              </a:rPr>
              <a:t>✓  + Multichannel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616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Inter"/>
              </a:rPr>
              <a:t>✓  + Full 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4573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Inter"/>
              </a:rPr>
              <a:t>✓  + Pro model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9784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Inter"/>
              </a:rPr>
              <a:t>✓  ≤300 knowledge base docs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1965960"/>
            <a:ext cx="2514600" cy="416052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1945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0A0A"/>
                </a:solidFill>
                <a:latin typeface="Plus Jakarta Sans"/>
              </a:rPr>
              <a:t>Inspire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603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E6E"/>
                </a:solidFill>
                <a:latin typeface="Inter"/>
              </a:rPr>
              <a:t>Enterprise hotel collections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06324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Plus Jakarta Sans"/>
              </a:rPr>
              <a:t>Custom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566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E6E6E"/>
                </a:solidFill>
                <a:latin typeface="Inter"/>
              </a:rPr>
              <a:t>per month, billed annually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977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Live human handover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3616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Frontier model 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74573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+ Unlimited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129784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A0A0A"/>
                </a:solidFill>
                <a:latin typeface="Inter"/>
              </a:rPr>
              <a:t>✓  Priority onboarding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Pricing  ·  Template — replace bracketed [content] before sending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0A0A"/>
                </a:solidFill>
                <a:latin typeface="Plus Jakarta Sans"/>
              </a:rPr>
              <a:t>Connects to the stack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0A0A"/>
                </a:solidFill>
                <a:latin typeface="Plus Jakarta Sans"/>
              </a:rPr>
              <a:t>you already use.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600200"/>
            <a:ext cx="310896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9659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3055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ENTERPRISE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3288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Oracle Opera PMS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659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213055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CLOUD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3288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Cloudbeds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213055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HOSPITALITY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3288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Mews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59359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GUEST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WhatsApp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2900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359359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OTA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9592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Booking.com / Agoda / Expedia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2900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359359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800" b="1">
                <a:solidFill>
                  <a:srgbClr val="6E6E6E"/>
                </a:solidFill>
                <a:latin typeface="Inter"/>
              </a:rPr>
              <a:t>PAYMENT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Plus Jakarta Sans"/>
              </a:rPr>
              <a:t>Stripe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lus Jakarta Sans"/>
              </a:rPr>
              <a:t>Security &amp; compliance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lus Jakarta Sans"/>
              </a:rPr>
              <a:t>[Confirm current certifications with Legal/Security before quoting]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Integrations &amp; Security  ·  status flags in hola_product_offerings.md §6  ·  Template — replace bracketed [content] before sending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Plus Jakarta Sans"/>
              </a:rPr>
              <a:t>[Property name] on holaa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1430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00" b="1">
                <a:solidFill>
                  <a:srgbClr val="C1FF72"/>
                </a:solidFill>
                <a:latin typeface="Inter"/>
              </a:rPr>
              <a:t>ILLUSTRATIVE — REPLACE WITH REAL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6126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0A0A0A"/>
                </a:solidFill>
                <a:latin typeface="Plus Jakarta Sans"/>
              </a:rPr>
              <a:t>“[Quote a real GM/owner describing the specific outcome holaa delivered — direct booking lift, guest satisfaction, front-desk workload reduction, etc.]”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6126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Inter"/>
              </a:rPr>
              <a:t>[Name], [Title]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Inter"/>
              </a:rPr>
              <a:t>[Property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659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Plus Jakarta Sans"/>
              </a:rPr>
              <a:t>[+__%]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51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Inter"/>
              </a:rPr>
              <a:t>Direct booking 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1546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Plus Jakarta Sans"/>
              </a:rPr>
              <a:t>[$__/yr]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Inter"/>
              </a:rPr>
              <a:t>OTA commission saved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holaa  ·  Proof Point  ·  Template — replace bracketed [content] before sending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E6E6E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lus Jakarta Sans"/>
              </a:rPr>
              <a:t>Why properties choose holaa.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234440"/>
            <a:ext cx="4023360" cy="0"/>
          </a:xfrm>
          <a:prstGeom prst="line">
            <a:avLst/>
          </a:prstGeom>
          <a:ln w="57150">
            <a:solidFill>
              <a:srgbClr val="C1F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68680" y="1993392"/>
            <a:ext cx="201168" cy="20116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Inter"/>
              </a:rPr>
              <a:t>Your best concierge, not a chatbot — storytelling that guests actually trust.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953512"/>
            <a:ext cx="201168" cy="20116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Inter"/>
              </a:rPr>
              <a:t>Never hallucinated, always yours — grounded only in your verified content.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13632"/>
            <a:ext cx="201168" cy="20116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8404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Inter"/>
              </a:rPr>
              <a:t>Built to pay for itself — direct bookings, not just engagement.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873752"/>
            <a:ext cx="201168" cy="201168"/>
          </a:xfrm>
          <a:prstGeom prst="ellipse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8006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Inter"/>
              </a:rPr>
              <a:t>See it, don't just read about it — rich interactive cards in every conversation.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3B3"/>
                </a:solidFill>
                <a:latin typeface="Inter"/>
              </a:rPr>
              <a:t>holaa  ·  Why holaa  ·  Template — replace bracketed [content] before sending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3B3B3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E2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Turn every guest conversation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into a direct booking.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3B3B3"/>
                </a:solidFill>
                <a:latin typeface="Inter"/>
              </a:rPr>
              <a:t>Book a personalized demo and see how holaa can drive direct revenue for [Property name].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2103120" cy="594360"/>
          </a:xfrm>
          <a:prstGeom prst="roundRect">
            <a:avLst>
              <a:gd name="adj" fmla="val 50000"/>
            </a:avLst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0A0A0A"/>
                </a:solidFill>
                <a:latin typeface="Inter"/>
              </a:rPr>
              <a:t>Book 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297680"/>
            <a:ext cx="210312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0A0A0A"/>
                </a:solidFill>
                <a:latin typeface="Inter"/>
              </a:rPr>
              <a:t>Talk to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3B3B3"/>
                </a:solidFill>
                <a:latin typeface="Inter"/>
              </a:rPr>
              <a:t>concierge@holaa.com  ·  [phone]  ·  [website]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3B3"/>
                </a:solidFill>
                <a:latin typeface="Inter"/>
              </a:rPr>
              <a:t>holaa  ·  Next Steps  ·  Template — replace bracketed [content] before sending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3B3B3"/>
                </a:solidFill>
                <a:latin typeface="Plus Jakarta Sans"/>
              </a:rPr>
              <a:t>holaa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